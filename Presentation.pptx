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orizon" charset="1" panose="02000500000000000000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  <p:embeddedFont>
      <p:font typeface="Garet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codesignal.com/?utm_source=chatgpt.com" TargetMode="External" Type="http://schemas.openxmlformats.org/officeDocument/2006/relationships/hyperlink"/><Relationship Id="rId11" Target="https://eightfold.ai/?utm_source=chatgpt.com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https://business.linkedin.com/talent-solutions?utm_source=chatgpt.com" TargetMode="External" Type="http://schemas.openxmlformats.org/officeDocument/2006/relationships/hyperlink"/><Relationship Id="rId9" Target="https://www.hackerrank.com/work?utm_source=chatgpt.com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3066" y="14889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262069" y="80788"/>
            <a:ext cx="6913992" cy="12291542"/>
          </a:xfrm>
          <a:custGeom>
            <a:avLst/>
            <a:gdLst/>
            <a:ahLst/>
            <a:cxnLst/>
            <a:rect r="r" b="b" t="t" l="l"/>
            <a:pathLst>
              <a:path h="12291542" w="6913992">
                <a:moveTo>
                  <a:pt x="6913993" y="0"/>
                </a:moveTo>
                <a:lnTo>
                  <a:pt x="0" y="0"/>
                </a:lnTo>
                <a:lnTo>
                  <a:pt x="0" y="12291542"/>
                </a:lnTo>
                <a:lnTo>
                  <a:pt x="6913993" y="12291542"/>
                </a:lnTo>
                <a:lnTo>
                  <a:pt x="691399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13705" y="527383"/>
            <a:ext cx="14245595" cy="292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27"/>
              </a:lnSpc>
            </a:pPr>
            <a:r>
              <a:rPr lang="en-US" sz="10024">
                <a:solidFill>
                  <a:srgbClr val="F3F3F7"/>
                </a:solidFill>
                <a:latin typeface="Horizon"/>
                <a:ea typeface="Horizon"/>
                <a:cs typeface="Horizon"/>
                <a:sym typeface="Horizon"/>
              </a:rPr>
              <a:t>HYDERABADI</a:t>
            </a:r>
          </a:p>
          <a:p>
            <a:pPr algn="l">
              <a:lnSpc>
                <a:spcPts val="10927"/>
              </a:lnSpc>
            </a:pPr>
            <a:r>
              <a:rPr lang="en-US" sz="10024">
                <a:solidFill>
                  <a:srgbClr val="F3F3F7"/>
                </a:solidFill>
                <a:latin typeface="Horizon"/>
                <a:ea typeface="Horizon"/>
                <a:cs typeface="Horizon"/>
                <a:sym typeface="Horizon"/>
              </a:rPr>
              <a:t>BIRYANI</a:t>
            </a:r>
          </a:p>
          <a:p>
            <a:pPr algn="l">
              <a:lnSpc>
                <a:spcPts val="1092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864221" y="4705674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513786" y="5584109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9144000" y="0"/>
                </a:moveTo>
                <a:lnTo>
                  <a:pt x="0" y="0"/>
                </a:lnTo>
                <a:lnTo>
                  <a:pt x="0" y="5081603"/>
                </a:lnTo>
                <a:lnTo>
                  <a:pt x="9144000" y="5081603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611924"/>
            <a:ext cx="15770735" cy="201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9"/>
              </a:lnSpc>
            </a:pPr>
            <a:r>
              <a:rPr lang="en-US" sz="5756" b="true">
                <a:solidFill>
                  <a:srgbClr val="F3F3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CAMPUS CONNECT AI</a:t>
            </a:r>
          </a:p>
          <a:p>
            <a:pPr algn="ctr">
              <a:lnSpc>
                <a:spcPts val="80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232945" y="7906385"/>
            <a:ext cx="4358693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3F3F7"/>
                </a:solidFill>
                <a:latin typeface="Canva Sans"/>
                <a:ea typeface="Canva Sans"/>
                <a:cs typeface="Canva Sans"/>
                <a:sym typeface="Canva Sans"/>
              </a:rPr>
              <a:t>By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3F3F7"/>
                </a:solidFill>
                <a:latin typeface="Canva Sans"/>
                <a:ea typeface="Canva Sans"/>
                <a:cs typeface="Canva Sans"/>
                <a:sym typeface="Canva Sans"/>
              </a:rPr>
              <a:t>Chirag Keshav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3F3F7"/>
                </a:solidFill>
                <a:latin typeface="Canva Sans"/>
                <a:ea typeface="Canva Sans"/>
                <a:cs typeface="Canva Sans"/>
                <a:sym typeface="Canva Sans"/>
              </a:rPr>
              <a:t>Devansh Dewan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3F3F7"/>
                </a:solidFill>
                <a:latin typeface="Canva Sans"/>
                <a:ea typeface="Canva Sans"/>
                <a:cs typeface="Canva Sans"/>
                <a:sym typeface="Canva Sans"/>
              </a:rPr>
              <a:t>Himaneesh 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348288"/>
            <a:ext cx="18288000" cy="9877425"/>
          </a:xfrm>
          <a:custGeom>
            <a:avLst/>
            <a:gdLst/>
            <a:ahLst/>
            <a:cxnLst/>
            <a:rect r="r" b="b" t="t" l="l"/>
            <a:pathLst>
              <a:path h="9877425" w="18288000">
                <a:moveTo>
                  <a:pt x="0" y="0"/>
                </a:moveTo>
                <a:lnTo>
                  <a:pt x="18288000" y="0"/>
                </a:lnTo>
                <a:lnTo>
                  <a:pt x="18288000" y="9877424"/>
                </a:lnTo>
                <a:lnTo>
                  <a:pt x="0" y="9877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011"/>
            <a:ext cx="17727796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46757" y="3729682"/>
            <a:ext cx="11652735" cy="429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5"/>
              </a:lnSpc>
            </a:pPr>
            <a:r>
              <a:rPr lang="en-US" sz="3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Traditional campus hiring systems rely heavily on resumes, keywords, and CGPA, making it difficult for recruiters to accurately identify genuinely skilled candidates</a:t>
            </a:r>
          </a:p>
          <a:p>
            <a:pPr algn="ctr">
              <a:lnSpc>
                <a:spcPts val="3739"/>
              </a:lnSpc>
            </a:pPr>
          </a:p>
          <a:p>
            <a:pPr algn="ctr">
              <a:lnSpc>
                <a:spcPts val="3739"/>
              </a:lnSpc>
            </a:pPr>
          </a:p>
          <a:p>
            <a:pPr algn="ctr">
              <a:lnSpc>
                <a:spcPts val="3739"/>
              </a:lnSpc>
            </a:pPr>
          </a:p>
          <a:p>
            <a:pPr algn="ctr">
              <a:lnSpc>
                <a:spcPts val="373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654538" y="-378141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73257" y="327639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43500"/>
            <a:ext cx="18288000" cy="9877425"/>
          </a:xfrm>
          <a:custGeom>
            <a:avLst/>
            <a:gdLst/>
            <a:ahLst/>
            <a:cxnLst/>
            <a:rect r="r" b="b" t="t" l="l"/>
            <a:pathLst>
              <a:path h="9877425" w="18288000">
                <a:moveTo>
                  <a:pt x="0" y="0"/>
                </a:moveTo>
                <a:lnTo>
                  <a:pt x="18288000" y="0"/>
                </a:lnTo>
                <a:lnTo>
                  <a:pt x="18288000" y="9877425"/>
                </a:lnTo>
                <a:lnTo>
                  <a:pt x="0" y="9877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011"/>
            <a:ext cx="17727796" cy="113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MAJOR PAIN POINTS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654538" y="-378141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73257" y="3276397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54538" y="2935203"/>
            <a:ext cx="12362945" cy="430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348" indent="-333174" lvl="1">
              <a:lnSpc>
                <a:spcPts val="4320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Over-reliance on CGP</a:t>
            </a:r>
            <a:r>
              <a:rPr lang="en-US" sz="30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instead of real technical skills</a:t>
            </a:r>
          </a:p>
          <a:p>
            <a:pPr algn="l" marL="666348" indent="-333174" lvl="1">
              <a:lnSpc>
                <a:spcPts val="4320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Manual resume screening is slow and inefficient</a:t>
            </a:r>
          </a:p>
          <a:p>
            <a:pPr algn="l" marL="666348" indent="-333174" lvl="1">
              <a:lnSpc>
                <a:spcPts val="4320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Keyword-based ATS filtering misses strong candidates</a:t>
            </a:r>
          </a:p>
          <a:p>
            <a:pPr algn="l" marL="666348" indent="-333174" lvl="1">
              <a:lnSpc>
                <a:spcPts val="4320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proper evaluation of GitHub projects and practical experience</a:t>
            </a:r>
          </a:p>
          <a:p>
            <a:pPr algn="l" marL="666348" indent="-333174" lvl="1">
              <a:lnSpc>
                <a:spcPts val="4320"/>
              </a:lnSpc>
              <a:buFont typeface="Arial"/>
              <a:buChar char="•"/>
            </a:pPr>
            <a:r>
              <a:rPr lang="en-US" sz="30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Students struggle to showcase real technical capability beyond resume formatting.</a:t>
            </a:r>
          </a:p>
          <a:p>
            <a:pPr algn="ctr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04762" y="66324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654538" y="211660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52649" y="211660"/>
            <a:ext cx="4435351" cy="5029217"/>
          </a:xfrm>
          <a:custGeom>
            <a:avLst/>
            <a:gdLst/>
            <a:ahLst/>
            <a:cxnLst/>
            <a:rect r="r" b="b" t="t" l="l"/>
            <a:pathLst>
              <a:path h="5029217" w="4435351">
                <a:moveTo>
                  <a:pt x="0" y="0"/>
                </a:moveTo>
                <a:lnTo>
                  <a:pt x="4435351" y="0"/>
                </a:lnTo>
                <a:lnTo>
                  <a:pt x="4435351" y="5029217"/>
                </a:lnTo>
                <a:lnTo>
                  <a:pt x="0" y="50292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859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05778" y="159703"/>
            <a:ext cx="1155263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Unique Selling Point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8967" y="5193252"/>
            <a:ext cx="15549116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AI-powered semantic talent matching instead of keyword filtering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GitHub-based technical skill and project intelligence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shortlisting with transparent match reasons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Faster and smarter campus hiring with automated candidate evaluation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04762" y="6632462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83710" y="211660"/>
            <a:ext cx="9437745" cy="4718873"/>
          </a:xfrm>
          <a:custGeom>
            <a:avLst/>
            <a:gdLst/>
            <a:ahLst/>
            <a:cxnLst/>
            <a:rect r="r" b="b" t="t" l="l"/>
            <a:pathLst>
              <a:path h="4718873" w="9437745">
                <a:moveTo>
                  <a:pt x="0" y="0"/>
                </a:moveTo>
                <a:lnTo>
                  <a:pt x="9437745" y="0"/>
                </a:lnTo>
                <a:lnTo>
                  <a:pt x="9437745" y="4718873"/>
                </a:lnTo>
                <a:lnTo>
                  <a:pt x="0" y="4718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75263" y="7250776"/>
            <a:ext cx="9374161" cy="3967490"/>
          </a:xfrm>
          <a:custGeom>
            <a:avLst/>
            <a:gdLst/>
            <a:ahLst/>
            <a:cxnLst/>
            <a:rect r="r" b="b" t="t" l="l"/>
            <a:pathLst>
              <a:path h="3967490" w="9374161">
                <a:moveTo>
                  <a:pt x="0" y="0"/>
                </a:moveTo>
                <a:lnTo>
                  <a:pt x="9374161" y="0"/>
                </a:lnTo>
                <a:lnTo>
                  <a:pt x="9374161" y="3967490"/>
                </a:lnTo>
                <a:lnTo>
                  <a:pt x="0" y="3967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472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7250776"/>
            <a:ext cx="9813076" cy="3036224"/>
          </a:xfrm>
          <a:custGeom>
            <a:avLst/>
            <a:gdLst/>
            <a:ahLst/>
            <a:cxnLst/>
            <a:rect r="r" b="b" t="t" l="l"/>
            <a:pathLst>
              <a:path h="3036224" w="9813076">
                <a:moveTo>
                  <a:pt x="0" y="0"/>
                </a:moveTo>
                <a:lnTo>
                  <a:pt x="9813076" y="0"/>
                </a:lnTo>
                <a:lnTo>
                  <a:pt x="9813076" y="3036224"/>
                </a:lnTo>
                <a:lnTo>
                  <a:pt x="0" y="3036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75263" y="593560"/>
            <a:ext cx="9325087" cy="3763882"/>
          </a:xfrm>
          <a:custGeom>
            <a:avLst/>
            <a:gdLst/>
            <a:ahLst/>
            <a:cxnLst/>
            <a:rect r="r" b="b" t="t" l="l"/>
            <a:pathLst>
              <a:path h="3763882" w="9325087">
                <a:moveTo>
                  <a:pt x="0" y="0"/>
                </a:moveTo>
                <a:lnTo>
                  <a:pt x="9325086" y="0"/>
                </a:lnTo>
                <a:lnTo>
                  <a:pt x="9325086" y="3763882"/>
                </a:lnTo>
                <a:lnTo>
                  <a:pt x="0" y="37638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3874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1119" y="4132201"/>
            <a:ext cx="13242013" cy="356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324" indent="-316662" lvl="1">
              <a:lnSpc>
                <a:spcPts val="4106"/>
              </a:lnSpc>
              <a:buFont typeface="Arial"/>
              <a:buChar char="•"/>
            </a:pPr>
            <a:r>
              <a:rPr lang="en-US" sz="2933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  <a:hlinkClick r:id="rId8" tooltip="https://business.linkedin.com/talent-solutions?utm_source=chatgpt.com"/>
              </a:rPr>
              <a:t>LinkedIn Talent Solutions</a:t>
            </a:r>
            <a:r>
              <a:rPr lang="en-US" sz="29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— Professional hiring and recruiter search</a:t>
            </a:r>
          </a:p>
          <a:p>
            <a:pPr algn="l" marL="633324" indent="-316662" lvl="1">
              <a:lnSpc>
                <a:spcPts val="4106"/>
              </a:lnSpc>
              <a:buFont typeface="Arial"/>
              <a:buChar char="•"/>
            </a:pPr>
            <a:r>
              <a:rPr lang="en-US" sz="2933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  <a:hlinkClick r:id="rId9" tooltip="https://www.hackerrank.com/work?utm_source=chatgpt.com"/>
              </a:rPr>
              <a:t>HackerRank for Work</a:t>
            </a:r>
            <a:r>
              <a:rPr lang="en-US" sz="29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— Coding assessments and technical screening</a:t>
            </a:r>
          </a:p>
          <a:p>
            <a:pPr algn="l" marL="633324" indent="-316662" lvl="1">
              <a:lnSpc>
                <a:spcPts val="4106"/>
              </a:lnSpc>
              <a:buFont typeface="Arial"/>
              <a:buChar char="•"/>
            </a:pPr>
            <a:r>
              <a:rPr lang="en-US" sz="2933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  <a:hlinkClick r:id="rId10" tooltip="https://codesignal.com/?utm_source=chatgpt.com"/>
              </a:rPr>
              <a:t>CodeSignal</a:t>
            </a:r>
            <a:r>
              <a:rPr lang="en-US" sz="29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— Skill evaluation platform for hiring</a:t>
            </a:r>
          </a:p>
          <a:p>
            <a:pPr algn="l" marL="633324" indent="-316662" lvl="1">
              <a:lnSpc>
                <a:spcPts val="4106"/>
              </a:lnSpc>
              <a:buFont typeface="Arial"/>
              <a:buChar char="•"/>
            </a:pPr>
            <a:r>
              <a:rPr lang="en-US" sz="2933" u="sng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  <a:hlinkClick r:id="rId11" tooltip="https://eightfold.ai/?utm_source=chatgpt.com"/>
              </a:rPr>
              <a:t>Eightfold AI</a:t>
            </a:r>
            <a:r>
              <a:rPr lang="en-US" sz="293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— AI-powered talent intelligence and recruitment</a:t>
            </a:r>
          </a:p>
          <a:p>
            <a:pPr algn="l">
              <a:lnSpc>
                <a:spcPts val="410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73560"/>
            <a:ext cx="18484251" cy="212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3"/>
              </a:lnSpc>
            </a:pPr>
            <a:r>
              <a:rPr lang="en-US" sz="71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SIMILAR EXISTING PRODUCTS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79492" y="54088"/>
            <a:ext cx="5207794" cy="9258300"/>
          </a:xfrm>
          <a:custGeom>
            <a:avLst/>
            <a:gdLst/>
            <a:ahLst/>
            <a:cxnLst/>
            <a:rect r="r" b="b" t="t" l="l"/>
            <a:pathLst>
              <a:path h="9258300" w="5207794">
                <a:moveTo>
                  <a:pt x="0" y="0"/>
                </a:moveTo>
                <a:lnTo>
                  <a:pt x="5207794" y="0"/>
                </a:lnTo>
                <a:lnTo>
                  <a:pt x="520779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87535" y="6717499"/>
            <a:ext cx="9144000" cy="5081603"/>
          </a:xfrm>
          <a:custGeom>
            <a:avLst/>
            <a:gdLst/>
            <a:ahLst/>
            <a:cxnLst/>
            <a:rect r="r" b="b" t="t" l="l"/>
            <a:pathLst>
              <a:path h="5081603" w="9144000">
                <a:moveTo>
                  <a:pt x="0" y="0"/>
                </a:moveTo>
                <a:lnTo>
                  <a:pt x="9144000" y="0"/>
                </a:lnTo>
                <a:lnTo>
                  <a:pt x="9144000" y="5081602"/>
                </a:lnTo>
                <a:lnTo>
                  <a:pt x="0" y="508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420624" y="549778"/>
            <a:ext cx="20698378" cy="385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sz="659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WHAT WE HAVE THAT THEY DON’T</a:t>
            </a:r>
          </a:p>
          <a:p>
            <a:pPr algn="ctr" marL="1423029" indent="-711515" lvl="1">
              <a:lnSpc>
                <a:spcPts val="7448"/>
              </a:lnSpc>
              <a:buFont typeface="Arial"/>
              <a:buChar char="•"/>
            </a:pPr>
          </a:p>
          <a:p>
            <a:pPr algn="ctr">
              <a:lnSpc>
                <a:spcPts val="744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80395" y="3037065"/>
            <a:ext cx="15595649" cy="415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934" indent="-320467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GitHub semantic intelligence for real project-based evaluation</a:t>
            </a:r>
          </a:p>
          <a:p>
            <a:pPr algn="l" marL="640934" indent="-320467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Contribution-weighted scoring instead of resume-only analysis</a:t>
            </a:r>
          </a:p>
          <a:p>
            <a:pPr algn="l" marL="640934" indent="-320467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 understanding of technical domains (AI/ML, DevOps, Cybersecurity, etc.)</a:t>
            </a:r>
          </a:p>
          <a:p>
            <a:pPr algn="l" marL="640934" indent="-320467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Campus-focused hiring ecosystem built specifically for students and recruiters</a:t>
            </a:r>
          </a:p>
          <a:p>
            <a:pPr algn="l" marL="640934" indent="-320467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Combined resume + GitHub + skill intelligence in one platform</a:t>
            </a:r>
          </a:p>
          <a:p>
            <a:pPr algn="l" marL="640934" indent="-320467" lvl="1">
              <a:lnSpc>
                <a:spcPts val="4156"/>
              </a:lnSpc>
              <a:buFont typeface="Arial"/>
              <a:buChar char="•"/>
            </a:pPr>
            <a:r>
              <a:rPr lang="en-US" sz="296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Practical engineering skill evaluation beyond CGPA and keywords</a:t>
            </a:r>
          </a:p>
          <a:p>
            <a:pPr algn="l">
              <a:lnSpc>
                <a:spcPts val="415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759759" y="-38100"/>
            <a:ext cx="19405436" cy="21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BUSINESS PROSPECTS &amp; REVENUE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478117"/>
            <a:ext cx="6886847" cy="498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027" indent="-337514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Students</a:t>
            </a:r>
          </a:p>
          <a:p>
            <a:pPr algn="l" marL="675027" indent="-337514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Recruiters &amp; Companies</a:t>
            </a:r>
          </a:p>
          <a:p>
            <a:pPr algn="l" marL="675027" indent="-337514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Colleges &amp; Placement Cells</a:t>
            </a:r>
          </a:p>
          <a:p>
            <a:pPr algn="l" marL="675027" indent="-337514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HR Teams &amp; Faculty</a:t>
            </a:r>
          </a:p>
          <a:p>
            <a:pPr algn="ctr">
              <a:lnSpc>
                <a:spcPts val="4377"/>
              </a:lnSpc>
            </a:pPr>
          </a:p>
          <a:p>
            <a:pPr algn="ctr">
              <a:lnSpc>
                <a:spcPts val="4377"/>
              </a:lnSpc>
            </a:pPr>
          </a:p>
          <a:p>
            <a:pPr algn="ctr">
              <a:lnSpc>
                <a:spcPts val="4377"/>
              </a:lnSpc>
            </a:pPr>
          </a:p>
          <a:p>
            <a:pPr algn="ctr">
              <a:lnSpc>
                <a:spcPts val="4377"/>
              </a:lnSpc>
            </a:pPr>
          </a:p>
          <a:p>
            <a:pPr algn="ctr">
              <a:lnSpc>
                <a:spcPts val="437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1588834" y="2458633"/>
            <a:ext cx="767761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akeholders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2458633"/>
            <a:ext cx="49899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42959" y="3478117"/>
            <a:ext cx="11293642" cy="211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514" indent="-325257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₹50–₹100/month stu</a:t>
            </a:r>
            <a:r>
              <a:rPr lang="en-US" sz="30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dent premium subscription</a:t>
            </a:r>
          </a:p>
          <a:p>
            <a:pPr algn="l" marL="650514" indent="-325257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Recruiter premium hiring dashboard</a:t>
            </a:r>
          </a:p>
          <a:p>
            <a:pPr algn="l" marL="650514" indent="-325257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College/institution partnerships</a:t>
            </a:r>
          </a:p>
          <a:p>
            <a:pPr algn="l">
              <a:lnSpc>
                <a:spcPts val="421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919527" y="7013729"/>
            <a:ext cx="64489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arket Opportunity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6033" y="8034655"/>
            <a:ext cx="1629385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Growing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hiring industry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Rising demand for skill-based hiring over CGPA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Expansion into internships, hackathons, and lateral hiring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185386"/>
            <a:ext cx="8260246" cy="2201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027" indent="-337514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AI-powered semantic hiring</a:t>
            </a:r>
          </a:p>
          <a:p>
            <a:pPr algn="l" marL="675027" indent="-337514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GitHub-based technical evaluation</a:t>
            </a:r>
          </a:p>
          <a:p>
            <a:pPr algn="l" marL="675027" indent="-337514" lvl="1">
              <a:lnSpc>
                <a:spcPts val="4377"/>
              </a:lnSpc>
              <a:buFont typeface="Arial"/>
              <a:buChar char="•"/>
            </a:pPr>
            <a:r>
              <a:rPr lang="en-US" sz="31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Faster and smarter shortlisting</a:t>
            </a:r>
          </a:p>
          <a:p>
            <a:pPr algn="ctr">
              <a:lnSpc>
                <a:spcPts val="437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2154351" y="2062710"/>
            <a:ext cx="767761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07429" y="2062710"/>
            <a:ext cx="389870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Weakn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42959" y="3185386"/>
            <a:ext cx="9112362" cy="218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768" indent="-337884" lvl="1">
              <a:lnSpc>
                <a:spcPts val="4382"/>
              </a:lnSpc>
              <a:buFont typeface="Arial"/>
              <a:buChar char="•"/>
            </a:pPr>
            <a:r>
              <a:rPr lang="en-US" sz="31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Availability of GitHub </a:t>
            </a:r>
          </a:p>
          <a:p>
            <a:pPr algn="l" marL="675768" indent="-337884" lvl="1">
              <a:lnSpc>
                <a:spcPts val="4382"/>
              </a:lnSpc>
              <a:buFont typeface="Arial"/>
              <a:buChar char="•"/>
            </a:pPr>
            <a:r>
              <a:rPr lang="en-US" sz="31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Early adoption and trust building</a:t>
            </a:r>
          </a:p>
          <a:p>
            <a:pPr algn="l">
              <a:lnSpc>
                <a:spcPts val="4382"/>
              </a:lnSpc>
            </a:pPr>
          </a:p>
          <a:p>
            <a:pPr algn="l">
              <a:lnSpc>
                <a:spcPts val="438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8506" y="5277584"/>
            <a:ext cx="4540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Opportunities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827269" y="61510"/>
            <a:ext cx="21942538" cy="141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SWOT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6400260"/>
            <a:ext cx="6327651" cy="163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5766" indent="-337883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recruitment market growth</a:t>
            </a:r>
          </a:p>
          <a:p>
            <a:pPr algn="l" marL="675766" indent="-337883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Campus hiring automation</a:t>
            </a:r>
          </a:p>
          <a:p>
            <a:pPr algn="l">
              <a:lnSpc>
                <a:spcPts val="438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689604" y="5277584"/>
            <a:ext cx="24386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hreats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07429" y="6400260"/>
            <a:ext cx="8847892" cy="163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766" indent="-337883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Competition from</a:t>
            </a:r>
            <a:r>
              <a:rPr lang="en-US" sz="31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large ATS platforms</a:t>
            </a:r>
          </a:p>
          <a:p>
            <a:pPr algn="l" marL="675766" indent="-337883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privacy concern</a:t>
            </a:r>
          </a:p>
          <a:p>
            <a:pPr algn="l">
              <a:lnSpc>
                <a:spcPts val="438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4798"/>
            <a:ext cx="16198379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7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 Mo</a:t>
            </a:r>
            <a:r>
              <a:rPr lang="en-US" b="true" sz="7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 &amp; Unit Economics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928619"/>
            <a:ext cx="632608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ubscription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24953"/>
            <a:ext cx="161983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943731"/>
            <a:ext cx="7069316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Subscription: ₹99/month per student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College Licensing: ₹50K–₹2L/year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Future recruiter premium plans and hiring analytics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23831" y="2928619"/>
            <a:ext cx="81356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Break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down Per User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52311" y="4094480"/>
            <a:ext cx="8135689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Groq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LLM interviews → ~₹5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Voyage AI embeddings → &lt;₹1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Hosting &amp; database → ~₹12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84798"/>
            <a:ext cx="16198379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sz="7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 Mo</a:t>
            </a:r>
            <a:r>
              <a:rPr lang="en-US" b="true" sz="7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 &amp; Unit Economics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444708" y="2928619"/>
            <a:ext cx="7514024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inancial Efficiency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24953"/>
            <a:ext cx="161983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286567"/>
            <a:ext cx="7069316" cy="306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 cost per user → ₹18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Revenue per user → ₹99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Gross margin → ~82% initially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Potential scalability margin → ~92%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152311" y="2928619"/>
            <a:ext cx="6460699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This Works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52311" y="4357369"/>
            <a:ext cx="8135689" cy="25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High-margin AI SaaS model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Low marginal cost at scale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Recurring subscription revenue</a:t>
            </a:r>
          </a:p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Scalable across colleges and recruiters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5500" y="159703"/>
            <a:ext cx="478140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Growth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68733" y="2255612"/>
            <a:ext cx="695808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Funding Requir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04871" y="3704682"/>
            <a:ext cx="9078259" cy="352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Seeking: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₹30 Lakhs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₹15L → Founding team runway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₹5L → C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ollege outreach &amp; partnerships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₹8L →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API credits &amp; infrastructure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₹2L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→ Legal &amp; operational setup</a:t>
            </a:r>
          </a:p>
          <a:p>
            <a:pPr algn="l">
              <a:lnSpc>
                <a:spcPts val="433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5500" y="159703"/>
            <a:ext cx="478140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Growth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630997"/>
            <a:ext cx="58936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Growth Projection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006" y="2432367"/>
            <a:ext cx="3176972" cy="169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2"/>
              </a:lnSpc>
            </a:pPr>
            <a:r>
              <a:rPr lang="en-US" sz="488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</a:t>
            </a:r>
            <a:r>
              <a:rPr lang="en-US" b="true" sz="48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 1</a:t>
            </a:r>
          </a:p>
          <a:p>
            <a:pPr algn="ctr">
              <a:lnSpc>
                <a:spcPts val="683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37838" y="3418095"/>
            <a:ext cx="5062029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pilot colleges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2,000 Pro users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~₹17L net revenue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951289" y="2436099"/>
            <a:ext cx="19418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8655" y="3418095"/>
            <a:ext cx="4891832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50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colleges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15,000 users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~₹1.8Cr net revenue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131462" y="2422842"/>
            <a:ext cx="48918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5-Ye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 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456" y="3418095"/>
            <a:ext cx="5363844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75,000+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Pro users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500 colleges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ARR projection → ₹6.4Cr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9478" y="6303535"/>
            <a:ext cx="6178748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aluation Potential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223903" y="7545927"/>
            <a:ext cx="1353047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Estimate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valuation at 8× ARR multiple → ₹51Cr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₹30L investment at ₹1.5Cr post-money valuation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Investor equity → 20%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Potential return at exit → 33× ROI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1025" y="159703"/>
            <a:ext cx="1498595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Statistics &amp;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292057" y="2421474"/>
            <a:ext cx="10138661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blems in Traditional Hiring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642802"/>
            <a:ext cx="9554546" cy="511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471" indent="-308236" lvl="1">
              <a:lnSpc>
                <a:spcPts val="4511"/>
              </a:lnSpc>
              <a:buFont typeface="Arial"/>
              <a:buChar char="•"/>
            </a:pPr>
            <a:r>
              <a:rPr lang="en-US" sz="285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Recruiters spen</a:t>
            </a:r>
            <a:r>
              <a:rPr lang="en-US" sz="285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40–60 hours screening candidates for a single role</a:t>
            </a:r>
          </a:p>
          <a:p>
            <a:pPr algn="l" marL="616471" indent="-308236" lvl="1">
              <a:lnSpc>
                <a:spcPts val="4511"/>
              </a:lnSpc>
              <a:buFont typeface="Arial"/>
              <a:buChar char="•"/>
            </a:pPr>
            <a:r>
              <a:rPr lang="en-US" sz="285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Nearly 70% of resumes are filtered only through keyword-based ATS systems</a:t>
            </a:r>
          </a:p>
          <a:p>
            <a:pPr algn="l" marL="616471" indent="-308236" lvl="1">
              <a:lnSpc>
                <a:spcPts val="4511"/>
              </a:lnSpc>
              <a:buFont typeface="Arial"/>
              <a:buChar char="•"/>
            </a:pPr>
            <a:r>
              <a:rPr lang="en-US" sz="285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Many skilled students are rejected due to CGPA and resume keyword dependency</a:t>
            </a:r>
          </a:p>
          <a:p>
            <a:pPr algn="l" marL="616471" indent="-308236" lvl="1">
              <a:lnSpc>
                <a:spcPts val="4511"/>
              </a:lnSpc>
              <a:buFont typeface="Arial"/>
              <a:buChar char="•"/>
            </a:pPr>
            <a:r>
              <a:rPr lang="en-US" sz="285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Manual screening significantly slows campus hiring cycles</a:t>
            </a:r>
          </a:p>
          <a:p>
            <a:pPr algn="l">
              <a:lnSpc>
                <a:spcPts val="451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846603" y="2421474"/>
            <a:ext cx="844139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of 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</a:t>
            </a:r>
          </a:p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Semantic Hiring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4546" y="4516805"/>
            <a:ext cx="8733454" cy="568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473" indent="-308737" lvl="1">
              <a:lnSpc>
                <a:spcPts val="4518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Up to 90% reduction in manual resume screening time</a:t>
            </a:r>
          </a:p>
          <a:p>
            <a:pPr algn="l" marL="617473" indent="-308737" lvl="1">
              <a:lnSpc>
                <a:spcPts val="4518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Around 40% improvement in candidate-role matching accuracy</a:t>
            </a:r>
          </a:p>
          <a:p>
            <a:pPr algn="l" marL="617473" indent="-308737" lvl="1">
              <a:lnSpc>
                <a:spcPts val="4518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Faster hiring cycles through automated AI shortlisting</a:t>
            </a:r>
          </a:p>
          <a:p>
            <a:pPr algn="l" marL="617473" indent="-308737" lvl="1">
              <a:lnSpc>
                <a:spcPts val="4518"/>
              </a:lnSpc>
              <a:buFont typeface="Arial"/>
              <a:buChar char="•"/>
            </a:pPr>
            <a:r>
              <a:rPr lang="en-US" sz="285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Better discovery of technically strong candidates using GitHub and project intelligence</a:t>
            </a:r>
          </a:p>
          <a:p>
            <a:pPr algn="l">
              <a:lnSpc>
                <a:spcPts val="4518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17839" y="5070825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7782476" cy="12379902"/>
          </a:xfrm>
          <a:custGeom>
            <a:avLst/>
            <a:gdLst/>
            <a:ahLst/>
            <a:cxnLst/>
            <a:rect r="r" b="b" t="t" l="l"/>
            <a:pathLst>
              <a:path h="12379902" w="7782476">
                <a:moveTo>
                  <a:pt x="0" y="0"/>
                </a:moveTo>
                <a:lnTo>
                  <a:pt x="7782476" y="0"/>
                </a:lnTo>
                <a:lnTo>
                  <a:pt x="7782476" y="12379902"/>
                </a:lnTo>
                <a:lnTo>
                  <a:pt x="0" y="12379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85707" y="3379562"/>
            <a:ext cx="8658828" cy="290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789"/>
              </a:lnSpc>
            </a:pPr>
            <a:r>
              <a:rPr lang="en-US" sz="1037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44536" y="-2501909"/>
            <a:ext cx="7309077" cy="7309077"/>
          </a:xfrm>
          <a:custGeom>
            <a:avLst/>
            <a:gdLst/>
            <a:ahLst/>
            <a:cxnLst/>
            <a:rect r="r" b="b" t="t" l="l"/>
            <a:pathLst>
              <a:path h="7309077" w="7309077">
                <a:moveTo>
                  <a:pt x="0" y="0"/>
                </a:moveTo>
                <a:lnTo>
                  <a:pt x="7309076" y="0"/>
                </a:lnTo>
                <a:lnTo>
                  <a:pt x="7309076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DAHJ7yRRb5k</dc:identifier>
  <dcterms:modified xsi:type="dcterms:W3CDTF">2011-08-01T06:04:30Z</dcterms:modified>
  <cp:revision>1</cp:revision>
  <dc:title>Campus Connect</dc:title>
</cp:coreProperties>
</file>